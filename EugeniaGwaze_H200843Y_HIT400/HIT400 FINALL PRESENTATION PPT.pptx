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sldIdLst>
    <p:sldId id="256" r:id="rId2"/>
    <p:sldId id="269" r:id="rId3"/>
    <p:sldId id="259" r:id="rId4"/>
    <p:sldId id="262" r:id="rId5"/>
    <p:sldId id="268" r:id="rId6"/>
  </p:sldIdLst>
  <p:sldSz cx="18288000" cy="10287000"/>
  <p:notesSz cx="6858000" cy="9144000"/>
  <p:embeddedFontLst>
    <p:embeddedFont>
      <p:font typeface="DM Sans" pitchFamily="2" charset="0"/>
      <p:regular r:id="rId8"/>
      <p:bold r:id="rId9"/>
      <p:italic r:id="rId10"/>
      <p:boldItalic r:id="rId11"/>
    </p:embeddedFont>
    <p:embeddedFont>
      <p:font typeface="DM Sans Bold"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77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9"/>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D653AE-6027-4090-8A9F-DCA7F26B5274}" type="datetimeFigureOut">
              <a:rPr lang="en-ZW" smtClean="0"/>
              <a:t>2/5/2024</a:t>
            </a:fld>
            <a:endParaRPr lang="en-Z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8F3DA-3813-427E-95DD-4DC4F23C80A1}" type="slidenum">
              <a:rPr lang="en-ZW" smtClean="0"/>
              <a:t>‹#›</a:t>
            </a:fld>
            <a:endParaRPr lang="en-ZW"/>
          </a:p>
        </p:txBody>
      </p:sp>
    </p:spTree>
    <p:extLst>
      <p:ext uri="{BB962C8B-B14F-4D97-AF65-F5344CB8AC3E}">
        <p14:creationId xmlns:p14="http://schemas.microsoft.com/office/powerpoint/2010/main" val="4133353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Freeform 2"/>
          <p:cNvSpPr/>
          <p:nvPr/>
        </p:nvSpPr>
        <p:spPr>
          <a:xfrm>
            <a:off x="10477779" y="684506"/>
            <a:ext cx="4520044" cy="4277092"/>
          </a:xfrm>
          <a:custGeom>
            <a:avLst/>
            <a:gdLst/>
            <a:ahLst/>
            <a:cxnLst/>
            <a:rect l="l" t="t" r="r" b="b"/>
            <a:pathLst>
              <a:path w="4520044" h="4277092">
                <a:moveTo>
                  <a:pt x="0" y="0"/>
                </a:moveTo>
                <a:lnTo>
                  <a:pt x="4520045" y="0"/>
                </a:lnTo>
                <a:lnTo>
                  <a:pt x="4520045" y="4277092"/>
                </a:lnTo>
                <a:lnTo>
                  <a:pt x="0" y="4277092"/>
                </a:lnTo>
                <a:lnTo>
                  <a:pt x="0" y="0"/>
                </a:lnTo>
                <a:close/>
              </a:path>
            </a:pathLst>
          </a:custGeom>
          <a:blipFill>
            <a:blip r:embed="rId2"/>
            <a:stretch>
              <a:fillRect/>
            </a:stretch>
          </a:blipFill>
        </p:spPr>
        <p:txBody>
          <a:bodyPr/>
          <a:lstStyle/>
          <a:p>
            <a:endParaRPr lang="en-ZW"/>
          </a:p>
        </p:txBody>
      </p:sp>
      <p:grpSp>
        <p:nvGrpSpPr>
          <p:cNvPr id="3" name="Group 3"/>
          <p:cNvGrpSpPr>
            <a:grpSpLocks noChangeAspect="1"/>
          </p:cNvGrpSpPr>
          <p:nvPr/>
        </p:nvGrpSpPr>
        <p:grpSpPr>
          <a:xfrm>
            <a:off x="7630289" y="4424150"/>
            <a:ext cx="5246391" cy="5246370"/>
            <a:chOff x="0" y="0"/>
            <a:chExt cx="6350000" cy="6349975"/>
          </a:xfrm>
        </p:grpSpPr>
        <p:sp>
          <p:nvSpPr>
            <p:cNvPr id="4" name="Freeform 4"/>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t="-25000" b="-25000"/>
              </a:stretch>
            </a:blipFill>
          </p:spPr>
          <p:txBody>
            <a:bodyPr/>
            <a:lstStyle/>
            <a:p>
              <a:endParaRPr lang="en-ZW"/>
            </a:p>
          </p:txBody>
        </p:sp>
      </p:grpSp>
      <p:sp>
        <p:nvSpPr>
          <p:cNvPr id="5" name="TextBox 5"/>
          <p:cNvSpPr txBox="1"/>
          <p:nvPr/>
        </p:nvSpPr>
        <p:spPr>
          <a:xfrm>
            <a:off x="1415563" y="1752600"/>
            <a:ext cx="8318990" cy="5143500"/>
          </a:xfrm>
          <a:prstGeom prst="rect">
            <a:avLst/>
          </a:prstGeom>
        </p:spPr>
        <p:txBody>
          <a:bodyPr lIns="0" tIns="0" rIns="0" bIns="0" rtlCol="0" anchor="t">
            <a:spAutoFit/>
          </a:bodyPr>
          <a:lstStyle/>
          <a:p>
            <a:pPr>
              <a:lnSpc>
                <a:spcPts val="10199"/>
              </a:lnSpc>
            </a:pPr>
            <a:r>
              <a:rPr lang="en-US" sz="8499" dirty="0">
                <a:solidFill>
                  <a:srgbClr val="292929"/>
                </a:solidFill>
                <a:latin typeface="DM Sans Bold"/>
              </a:rPr>
              <a:t>Cyberbullying Detection System</a:t>
            </a:r>
          </a:p>
          <a:p>
            <a:pPr>
              <a:lnSpc>
                <a:spcPts val="10200"/>
              </a:lnSpc>
            </a:pPr>
            <a:endParaRPr lang="en-US" sz="8499" dirty="0">
              <a:solidFill>
                <a:srgbClr val="292929"/>
              </a:solidFill>
              <a:latin typeface="DM Sans Bold"/>
            </a:endParaRPr>
          </a:p>
        </p:txBody>
      </p:sp>
      <p:grpSp>
        <p:nvGrpSpPr>
          <p:cNvPr id="6" name="Group 6"/>
          <p:cNvGrpSpPr/>
          <p:nvPr/>
        </p:nvGrpSpPr>
        <p:grpSpPr>
          <a:xfrm>
            <a:off x="1415563" y="7582351"/>
            <a:ext cx="6452090" cy="1005342"/>
            <a:chOff x="0" y="-47625"/>
            <a:chExt cx="8602787" cy="1340455"/>
          </a:xfrm>
        </p:grpSpPr>
        <p:sp>
          <p:nvSpPr>
            <p:cNvPr id="7" name="TextBox 7"/>
            <p:cNvSpPr txBox="1"/>
            <p:nvPr/>
          </p:nvSpPr>
          <p:spPr>
            <a:xfrm>
              <a:off x="0" y="-47625"/>
              <a:ext cx="8602787" cy="588708"/>
            </a:xfrm>
            <a:prstGeom prst="rect">
              <a:avLst/>
            </a:prstGeom>
          </p:spPr>
          <p:txBody>
            <a:bodyPr lIns="0" tIns="0" rIns="0" bIns="0" rtlCol="0" anchor="t">
              <a:spAutoFit/>
            </a:bodyPr>
            <a:lstStyle/>
            <a:p>
              <a:pPr>
                <a:lnSpc>
                  <a:spcPts val="3640"/>
                </a:lnSpc>
              </a:pPr>
              <a:r>
                <a:rPr lang="en-US" sz="2600" dirty="0">
                  <a:solidFill>
                    <a:srgbClr val="292929"/>
                  </a:solidFill>
                  <a:latin typeface="DM Sans Bold"/>
                </a:rPr>
                <a:t>HIT400 PROJECT PRESENTATION</a:t>
              </a:r>
            </a:p>
          </p:txBody>
        </p:sp>
        <p:sp>
          <p:nvSpPr>
            <p:cNvPr id="8" name="TextBox 8"/>
            <p:cNvSpPr txBox="1"/>
            <p:nvPr/>
          </p:nvSpPr>
          <p:spPr>
            <a:xfrm>
              <a:off x="0" y="789698"/>
              <a:ext cx="8602787" cy="503132"/>
            </a:xfrm>
            <a:prstGeom prst="rect">
              <a:avLst/>
            </a:prstGeom>
          </p:spPr>
          <p:txBody>
            <a:bodyPr lIns="0" tIns="0" rIns="0" bIns="0" rtlCol="0" anchor="t">
              <a:spAutoFit/>
            </a:bodyPr>
            <a:lstStyle/>
            <a:p>
              <a:pPr>
                <a:lnSpc>
                  <a:spcPts val="3219"/>
                </a:lnSpc>
              </a:pPr>
              <a:endParaRPr/>
            </a:p>
          </p:txBody>
        </p:sp>
      </p:grpSp>
      <p:grpSp>
        <p:nvGrpSpPr>
          <p:cNvPr id="9" name="Group 6">
            <a:extLst>
              <a:ext uri="{FF2B5EF4-FFF2-40B4-BE49-F238E27FC236}">
                <a16:creationId xmlns:a16="http://schemas.microsoft.com/office/drawing/2014/main" id="{10ED475C-A5CF-7AA6-B01F-30961DEDC8B0}"/>
              </a:ext>
            </a:extLst>
          </p:cNvPr>
          <p:cNvGrpSpPr/>
          <p:nvPr/>
        </p:nvGrpSpPr>
        <p:grpSpPr>
          <a:xfrm>
            <a:off x="1212835" y="654027"/>
            <a:ext cx="6452090" cy="1005342"/>
            <a:chOff x="0" y="-47625"/>
            <a:chExt cx="8602787" cy="1340455"/>
          </a:xfrm>
        </p:grpSpPr>
        <p:sp>
          <p:nvSpPr>
            <p:cNvPr id="10" name="TextBox 7">
              <a:extLst>
                <a:ext uri="{FF2B5EF4-FFF2-40B4-BE49-F238E27FC236}">
                  <a16:creationId xmlns:a16="http://schemas.microsoft.com/office/drawing/2014/main" id="{5277154D-4BAA-0469-8F79-F4A59C615148}"/>
                </a:ext>
              </a:extLst>
            </p:cNvPr>
            <p:cNvSpPr txBox="1"/>
            <p:nvPr/>
          </p:nvSpPr>
          <p:spPr>
            <a:xfrm>
              <a:off x="0" y="-47625"/>
              <a:ext cx="8602787" cy="725497"/>
            </a:xfrm>
            <a:prstGeom prst="rect">
              <a:avLst/>
            </a:prstGeom>
          </p:spPr>
          <p:txBody>
            <a:bodyPr lIns="0" tIns="0" rIns="0" bIns="0" rtlCol="0" anchor="t">
              <a:spAutoFit/>
            </a:bodyPr>
            <a:lstStyle/>
            <a:p>
              <a:pPr algn="ctr">
                <a:lnSpc>
                  <a:spcPts val="3640"/>
                </a:lnSpc>
              </a:pPr>
              <a:r>
                <a:rPr lang="en-US" sz="5400" b="1" dirty="0">
                  <a:solidFill>
                    <a:srgbClr val="292929"/>
                  </a:solidFill>
                  <a:latin typeface="DM Sans Bold"/>
                </a:rPr>
                <a:t>TITLE</a:t>
              </a:r>
            </a:p>
          </p:txBody>
        </p:sp>
        <p:sp>
          <p:nvSpPr>
            <p:cNvPr id="11" name="TextBox 8">
              <a:extLst>
                <a:ext uri="{FF2B5EF4-FFF2-40B4-BE49-F238E27FC236}">
                  <a16:creationId xmlns:a16="http://schemas.microsoft.com/office/drawing/2014/main" id="{B13C2D21-2949-4E70-38F4-34A46174B908}"/>
                </a:ext>
              </a:extLst>
            </p:cNvPr>
            <p:cNvSpPr txBox="1"/>
            <p:nvPr/>
          </p:nvSpPr>
          <p:spPr>
            <a:xfrm>
              <a:off x="0" y="789698"/>
              <a:ext cx="8602787" cy="503132"/>
            </a:xfrm>
            <a:prstGeom prst="rect">
              <a:avLst/>
            </a:prstGeom>
          </p:spPr>
          <p:txBody>
            <a:bodyPr lIns="0" tIns="0" rIns="0" bIns="0" rtlCol="0" anchor="t">
              <a:spAutoFit/>
            </a:bodyPr>
            <a:lstStyle/>
            <a:p>
              <a:pPr>
                <a:lnSpc>
                  <a:spcPts val="321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3352800" y="743041"/>
            <a:ext cx="14249400" cy="1115690"/>
          </a:xfrm>
          <a:prstGeom prst="rect">
            <a:avLst/>
          </a:prstGeom>
        </p:spPr>
        <p:txBody>
          <a:bodyPr wrap="square" lIns="0" tIns="0" rIns="0" bIns="0" rtlCol="0" anchor="t">
            <a:spAutoFit/>
          </a:bodyPr>
          <a:lstStyle/>
          <a:p>
            <a:pPr>
              <a:lnSpc>
                <a:spcPts val="8700"/>
              </a:lnSpc>
            </a:pPr>
            <a:r>
              <a:rPr lang="en-US" sz="7250" dirty="0">
                <a:solidFill>
                  <a:srgbClr val="FFFDF6"/>
                </a:solidFill>
                <a:latin typeface="DM Sans Bold"/>
              </a:rPr>
              <a:t>SUMMARY OF THE PROJECT</a:t>
            </a:r>
          </a:p>
        </p:txBody>
      </p:sp>
      <p:sp>
        <p:nvSpPr>
          <p:cNvPr id="3" name="TextBox 3"/>
          <p:cNvSpPr txBox="1"/>
          <p:nvPr/>
        </p:nvSpPr>
        <p:spPr>
          <a:xfrm>
            <a:off x="392840" y="2178736"/>
            <a:ext cx="17209360" cy="6562117"/>
          </a:xfrm>
          <a:prstGeom prst="rect">
            <a:avLst/>
          </a:prstGeom>
        </p:spPr>
        <p:txBody>
          <a:bodyPr wrap="square" lIns="0" tIns="0" rIns="0" bIns="0" rtlCol="0" anchor="t">
            <a:spAutoFit/>
          </a:bodyPr>
          <a:lstStyle/>
          <a:p>
            <a:pPr>
              <a:lnSpc>
                <a:spcPct val="150000"/>
              </a:lnSpc>
            </a:pPr>
            <a:r>
              <a:rPr lang="en-ZW" sz="3600" dirty="0">
                <a:solidFill>
                  <a:schemeClr val="bg1"/>
                </a:solidFill>
                <a:effectLst/>
                <a:ea typeface="Calibri" panose="020F0502020204030204" pitchFamily="34" charset="0"/>
              </a:rPr>
              <a:t>Cyberbullying has become a concerning issue in online chat rooms. To tackle this problem, I have developed a Cyberbullying Detection System that uses Sentiment Analysis to identify cyberbullying behaviour in English language chat rooms. </a:t>
            </a:r>
            <a:r>
              <a:rPr lang="en-US" sz="3600" dirty="0">
                <a:solidFill>
                  <a:schemeClr val="bg1"/>
                </a:solidFill>
                <a:effectLst/>
                <a:ea typeface="Calibri" panose="020F0502020204030204" pitchFamily="34" charset="0"/>
              </a:rPr>
              <a:t>The System can effectively identify instances of cyberbullying in online chart rooms and it utilizes advanced technologies such as natural language processing (NLP), machine learning, and sentiment analysis to analyze text content and detect potential cases of cyberbullying. The system blocks and deletes cyberbullying content and notifies the administrator who can then take further actions such as warning the sender and in worst cases blocking </a:t>
            </a:r>
            <a:r>
              <a:rPr lang="en-US" sz="2800" dirty="0">
                <a:solidFill>
                  <a:schemeClr val="bg1"/>
                </a:solidFill>
                <a:effectLst/>
                <a:ea typeface="Calibri" panose="020F0502020204030204" pitchFamily="34" charset="0"/>
              </a:rPr>
              <a:t>.</a:t>
            </a:r>
            <a:endParaRPr lang="en-US" sz="2800" dirty="0">
              <a:solidFill>
                <a:schemeClr val="bg1"/>
              </a:solidFill>
            </a:endParaRPr>
          </a:p>
        </p:txBody>
      </p:sp>
      <p:sp>
        <p:nvSpPr>
          <p:cNvPr id="4" name="TextBox 4"/>
          <p:cNvSpPr txBox="1"/>
          <p:nvPr/>
        </p:nvSpPr>
        <p:spPr>
          <a:xfrm>
            <a:off x="1585913" y="14136303"/>
            <a:ext cx="6769244" cy="435700"/>
          </a:xfrm>
          <a:prstGeom prst="rect">
            <a:avLst/>
          </a:prstGeom>
        </p:spPr>
        <p:txBody>
          <a:bodyPr lIns="0" tIns="0" rIns="0" bIns="0" rtlCol="0" anchor="t">
            <a:spAutoFit/>
          </a:bodyPr>
          <a:lstStyle/>
          <a:p>
            <a:pPr>
              <a:lnSpc>
                <a:spcPts val="3625"/>
              </a:lnSpc>
            </a:pPr>
            <a:r>
              <a:rPr lang="en-US" sz="2589">
                <a:solidFill>
                  <a:srgbClr val="FFFDF6"/>
                </a:solidFill>
                <a:latin typeface="DM Sans"/>
              </a:rPr>
              <a:t>What is Financial Technology or FinTech?</a:t>
            </a:r>
          </a:p>
        </p:txBody>
      </p:sp>
      <p:sp>
        <p:nvSpPr>
          <p:cNvPr id="5" name="TextBox 5"/>
          <p:cNvSpPr txBox="1"/>
          <p:nvPr/>
        </p:nvSpPr>
        <p:spPr>
          <a:xfrm>
            <a:off x="1585913" y="15571999"/>
            <a:ext cx="6769244" cy="435700"/>
          </a:xfrm>
          <a:prstGeom prst="rect">
            <a:avLst/>
          </a:prstGeom>
        </p:spPr>
        <p:txBody>
          <a:bodyPr lIns="0" tIns="0" rIns="0" bIns="0" rtlCol="0" anchor="t">
            <a:spAutoFit/>
          </a:bodyPr>
          <a:lstStyle/>
          <a:p>
            <a:pPr>
              <a:lnSpc>
                <a:spcPts val="3625"/>
              </a:lnSpc>
            </a:pPr>
            <a:r>
              <a:rPr lang="en-US" sz="2589">
                <a:solidFill>
                  <a:srgbClr val="FFFDF6"/>
                </a:solidFill>
                <a:latin typeface="DM Sans"/>
              </a:rPr>
              <a:t>Wha</a:t>
            </a:r>
          </a:p>
        </p:txBody>
      </p:sp>
      <p:sp>
        <p:nvSpPr>
          <p:cNvPr id="6" name="AutoShape 6"/>
          <p:cNvSpPr/>
          <p:nvPr/>
        </p:nvSpPr>
        <p:spPr>
          <a:xfrm>
            <a:off x="1585912" y="13660118"/>
            <a:ext cx="6769244" cy="0"/>
          </a:xfrm>
          <a:prstGeom prst="line">
            <a:avLst/>
          </a:prstGeom>
          <a:ln w="9525" cap="rnd">
            <a:solidFill>
              <a:srgbClr val="FFFDF6"/>
            </a:solidFill>
            <a:prstDash val="solid"/>
            <a:headEnd type="none" w="sm" len="sm"/>
            <a:tailEnd type="none" w="sm" len="sm"/>
          </a:ln>
        </p:spPr>
        <p:txBody>
          <a:bodyPr/>
          <a:lstStyle/>
          <a:p>
            <a:endParaRPr lang="en-ZW"/>
          </a:p>
        </p:txBody>
      </p:sp>
      <p:sp>
        <p:nvSpPr>
          <p:cNvPr id="7" name="AutoShape 7"/>
          <p:cNvSpPr/>
          <p:nvPr/>
        </p:nvSpPr>
        <p:spPr>
          <a:xfrm>
            <a:off x="1585912" y="15095814"/>
            <a:ext cx="6769244" cy="0"/>
          </a:xfrm>
          <a:prstGeom prst="line">
            <a:avLst/>
          </a:prstGeom>
          <a:ln w="9525" cap="rnd">
            <a:solidFill>
              <a:srgbClr val="FFFDF6"/>
            </a:solidFill>
            <a:prstDash val="solid"/>
            <a:headEnd type="none" w="sm" len="sm"/>
            <a:tailEnd type="none" w="sm" len="sm"/>
          </a:ln>
        </p:spPr>
        <p:txBody>
          <a:bodyPr/>
          <a:lstStyle/>
          <a:p>
            <a:endParaRPr lang="en-ZW"/>
          </a:p>
        </p:txBody>
      </p:sp>
    </p:spTree>
    <p:extLst>
      <p:ext uri="{BB962C8B-B14F-4D97-AF65-F5344CB8AC3E}">
        <p14:creationId xmlns:p14="http://schemas.microsoft.com/office/powerpoint/2010/main" val="3517866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TextBox 2"/>
          <p:cNvSpPr txBox="1"/>
          <p:nvPr/>
        </p:nvSpPr>
        <p:spPr>
          <a:xfrm>
            <a:off x="971116" y="2609471"/>
            <a:ext cx="8145175" cy="2616101"/>
          </a:xfrm>
          <a:prstGeom prst="rect">
            <a:avLst/>
          </a:prstGeom>
        </p:spPr>
        <p:txBody>
          <a:bodyPr wrap="square" lIns="0" tIns="0" rIns="0" bIns="0" rtlCol="0" anchor="t">
            <a:spAutoFit/>
          </a:bodyPr>
          <a:lstStyle/>
          <a:p>
            <a:pPr>
              <a:lnSpc>
                <a:spcPts val="10200"/>
              </a:lnSpc>
            </a:pPr>
            <a:r>
              <a:rPr lang="en-US" sz="8500" dirty="0">
                <a:solidFill>
                  <a:srgbClr val="292929"/>
                </a:solidFill>
                <a:latin typeface="DM Sans Bold"/>
              </a:rPr>
              <a:t> PROBLEM STATEMENT</a:t>
            </a:r>
          </a:p>
        </p:txBody>
      </p:sp>
      <p:sp>
        <p:nvSpPr>
          <p:cNvPr id="3" name="TextBox 3"/>
          <p:cNvSpPr txBox="1"/>
          <p:nvPr/>
        </p:nvSpPr>
        <p:spPr>
          <a:xfrm>
            <a:off x="8763000" y="2586281"/>
            <a:ext cx="8876556" cy="4616648"/>
          </a:xfrm>
          <a:prstGeom prst="rect">
            <a:avLst/>
          </a:prstGeom>
        </p:spPr>
        <p:txBody>
          <a:bodyPr wrap="square" lIns="0" tIns="0" rIns="0" bIns="0" rtlCol="0" anchor="t">
            <a:spAutoFit/>
          </a:bodyPr>
          <a:lstStyle/>
          <a:p>
            <a:pPr>
              <a:lnSpc>
                <a:spcPct val="150000"/>
              </a:lnSpc>
            </a:pPr>
            <a:r>
              <a:rPr lang="en-US" sz="3000" dirty="0">
                <a:solidFill>
                  <a:srgbClr val="292929"/>
                </a:solidFill>
                <a:latin typeface="Calibri" panose="020F0502020204030204" pitchFamily="34" charset="0"/>
                <a:cs typeface="Calibri" panose="020F0502020204030204" pitchFamily="34" charset="0"/>
              </a:rPr>
              <a:t>This project describes a Cyberbullying Detection System for detection of cyberbullying behavior in English .The proposed system has the potential to have a significant impact in making online game chat rooms safer for the users by blocking and deleting the Cyberbullying text then notifying </a:t>
            </a:r>
            <a:r>
              <a:rPr lang="en-US" sz="3000">
                <a:solidFill>
                  <a:srgbClr val="292929"/>
                </a:solidFill>
                <a:latin typeface="Calibri" panose="020F0502020204030204" pitchFamily="34" charset="0"/>
                <a:cs typeface="Calibri" panose="020F0502020204030204" pitchFamily="34" charset="0"/>
              </a:rPr>
              <a:t>the admin.</a:t>
            </a:r>
            <a:endParaRPr lang="en-US" sz="3000" dirty="0">
              <a:solidFill>
                <a:srgbClr val="292929"/>
              </a:solidFill>
              <a:latin typeface="Calibri" panose="020F0502020204030204" pitchFamily="34" charset="0"/>
              <a:cs typeface="Calibri" panose="020F0502020204030204" pitchFamily="34" charset="0"/>
            </a:endParaRPr>
          </a:p>
          <a:p>
            <a:pPr>
              <a:lnSpc>
                <a:spcPts val="3600"/>
              </a:lnSpc>
            </a:pPr>
            <a:endParaRPr lang="en-US" sz="3000" dirty="0">
              <a:solidFill>
                <a:srgbClr val="292929"/>
              </a:solidFill>
              <a:latin typeface="DM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TextBox 2"/>
          <p:cNvSpPr txBox="1"/>
          <p:nvPr/>
        </p:nvSpPr>
        <p:spPr>
          <a:xfrm>
            <a:off x="1668593" y="1595195"/>
            <a:ext cx="14950815" cy="1228725"/>
          </a:xfrm>
          <a:prstGeom prst="rect">
            <a:avLst/>
          </a:prstGeom>
        </p:spPr>
        <p:txBody>
          <a:bodyPr lIns="0" tIns="0" rIns="0" bIns="0" rtlCol="0" anchor="t">
            <a:spAutoFit/>
          </a:bodyPr>
          <a:lstStyle/>
          <a:p>
            <a:pPr>
              <a:lnSpc>
                <a:spcPts val="9600"/>
              </a:lnSpc>
            </a:pPr>
            <a:r>
              <a:rPr lang="en-US" sz="8000">
                <a:solidFill>
                  <a:srgbClr val="292929"/>
                </a:solidFill>
              </a:rPr>
              <a:t>AIMS AND OBJECTIVES</a:t>
            </a:r>
          </a:p>
        </p:txBody>
      </p:sp>
      <p:grpSp>
        <p:nvGrpSpPr>
          <p:cNvPr id="3" name="Group 3"/>
          <p:cNvGrpSpPr/>
          <p:nvPr/>
        </p:nvGrpSpPr>
        <p:grpSpPr>
          <a:xfrm>
            <a:off x="534195" y="3252535"/>
            <a:ext cx="3632729" cy="4424508"/>
            <a:chOff x="0" y="-9525"/>
            <a:chExt cx="4843639" cy="5899342"/>
          </a:xfrm>
        </p:grpSpPr>
        <p:sp>
          <p:nvSpPr>
            <p:cNvPr id="4" name="TextBox 4"/>
            <p:cNvSpPr txBox="1"/>
            <p:nvPr/>
          </p:nvSpPr>
          <p:spPr>
            <a:xfrm>
              <a:off x="0" y="-9525"/>
              <a:ext cx="4843639" cy="619125"/>
            </a:xfrm>
            <a:prstGeom prst="rect">
              <a:avLst/>
            </a:prstGeom>
          </p:spPr>
          <p:txBody>
            <a:bodyPr lIns="0" tIns="0" rIns="0" bIns="0" rtlCol="0" anchor="t">
              <a:spAutoFit/>
            </a:bodyPr>
            <a:lstStyle/>
            <a:p>
              <a:pPr algn="ctr">
                <a:lnSpc>
                  <a:spcPts val="3600"/>
                </a:lnSpc>
              </a:pPr>
              <a:r>
                <a:rPr lang="en-US" sz="3000" b="1" spc="60" dirty="0">
                  <a:solidFill>
                    <a:srgbClr val="292929"/>
                  </a:solidFill>
                </a:rPr>
                <a:t>AIM</a:t>
              </a:r>
            </a:p>
          </p:txBody>
        </p:sp>
        <p:sp>
          <p:nvSpPr>
            <p:cNvPr id="5" name="TextBox 5"/>
            <p:cNvSpPr txBox="1"/>
            <p:nvPr/>
          </p:nvSpPr>
          <p:spPr>
            <a:xfrm>
              <a:off x="0" y="1019340"/>
              <a:ext cx="4843639" cy="4870477"/>
            </a:xfrm>
            <a:prstGeom prst="rect">
              <a:avLst/>
            </a:prstGeom>
          </p:spPr>
          <p:txBody>
            <a:bodyPr lIns="0" tIns="0" rIns="0" bIns="0" rtlCol="0" anchor="t">
              <a:spAutoFit/>
            </a:bodyPr>
            <a:lstStyle/>
            <a:p>
              <a:pPr>
                <a:lnSpc>
                  <a:spcPct val="150000"/>
                </a:lnSpc>
              </a:pPr>
              <a:r>
                <a:rPr lang="en-US" sz="2800" dirty="0">
                  <a:solidFill>
                    <a:srgbClr val="292929"/>
                  </a:solidFill>
                </a:rPr>
                <a:t>•To create a system that will </a:t>
              </a:r>
              <a:r>
                <a:rPr lang="en-US" sz="2800" dirty="0" err="1">
                  <a:solidFill>
                    <a:srgbClr val="292929"/>
                  </a:solidFill>
                </a:rPr>
                <a:t>analyse</a:t>
              </a:r>
              <a:r>
                <a:rPr lang="en-US" sz="2800" dirty="0">
                  <a:solidFill>
                    <a:srgbClr val="292929"/>
                  </a:solidFill>
                </a:rPr>
                <a:t> sentiments in online games chat rooms to reduce and prevent cyber bullying</a:t>
              </a:r>
            </a:p>
            <a:p>
              <a:pPr>
                <a:lnSpc>
                  <a:spcPts val="3500"/>
                </a:lnSpc>
              </a:pPr>
              <a:endParaRPr lang="en-US" sz="2499" dirty="0">
                <a:solidFill>
                  <a:srgbClr val="292929"/>
                </a:solidFill>
              </a:endParaRPr>
            </a:p>
          </p:txBody>
        </p:sp>
      </p:grpSp>
      <p:grpSp>
        <p:nvGrpSpPr>
          <p:cNvPr id="6" name="Group 6"/>
          <p:cNvGrpSpPr/>
          <p:nvPr/>
        </p:nvGrpSpPr>
        <p:grpSpPr>
          <a:xfrm>
            <a:off x="4495800" y="4196895"/>
            <a:ext cx="5529911" cy="8439093"/>
            <a:chOff x="0" y="-9525"/>
            <a:chExt cx="7373214" cy="11252121"/>
          </a:xfrm>
        </p:grpSpPr>
        <p:sp>
          <p:nvSpPr>
            <p:cNvPr id="7" name="TextBox 7"/>
            <p:cNvSpPr txBox="1"/>
            <p:nvPr/>
          </p:nvSpPr>
          <p:spPr>
            <a:xfrm>
              <a:off x="0" y="-9525"/>
              <a:ext cx="7373214" cy="1228725"/>
            </a:xfrm>
            <a:prstGeom prst="rect">
              <a:avLst/>
            </a:prstGeom>
          </p:spPr>
          <p:txBody>
            <a:bodyPr lIns="0" tIns="0" rIns="0" bIns="0" rtlCol="0" anchor="t">
              <a:spAutoFit/>
            </a:bodyPr>
            <a:lstStyle/>
            <a:p>
              <a:pPr algn="ctr">
                <a:lnSpc>
                  <a:spcPts val="3600"/>
                </a:lnSpc>
              </a:pPr>
              <a:r>
                <a:rPr lang="en-US" sz="3000" b="1" spc="60" dirty="0">
                  <a:solidFill>
                    <a:srgbClr val="292929"/>
                  </a:solidFill>
                </a:rPr>
                <a:t>OBJECTIVES</a:t>
              </a:r>
            </a:p>
            <a:p>
              <a:pPr>
                <a:lnSpc>
                  <a:spcPts val="3600"/>
                </a:lnSpc>
              </a:pPr>
              <a:endParaRPr lang="en-US" sz="3000" spc="60" dirty="0">
                <a:solidFill>
                  <a:srgbClr val="292929"/>
                </a:solidFill>
              </a:endParaRPr>
            </a:p>
          </p:txBody>
        </p:sp>
        <p:sp>
          <p:nvSpPr>
            <p:cNvPr id="8" name="TextBox 8"/>
            <p:cNvSpPr txBox="1"/>
            <p:nvPr/>
          </p:nvSpPr>
          <p:spPr>
            <a:xfrm>
              <a:off x="0" y="1628940"/>
              <a:ext cx="7373214" cy="9613656"/>
            </a:xfrm>
            <a:prstGeom prst="rect">
              <a:avLst/>
            </a:prstGeom>
          </p:spPr>
          <p:txBody>
            <a:bodyPr lIns="0" tIns="0" rIns="0" bIns="0" rtlCol="0" anchor="t">
              <a:spAutoFit/>
            </a:bodyPr>
            <a:lstStyle/>
            <a:p>
              <a:pPr marL="457200" lvl="0" indent="-457200" algn="just">
                <a:lnSpc>
                  <a:spcPct val="150000"/>
                </a:lnSpc>
                <a:spcAft>
                  <a:spcPts val="800"/>
                </a:spcAft>
                <a:buFont typeface="Arial" panose="020B0604020202020204" pitchFamily="34" charset="0"/>
                <a:buChar char="•"/>
              </a:pPr>
              <a:r>
                <a:rPr lang="en-ZW" sz="2800" dirty="0">
                  <a:effectLst/>
                  <a:ea typeface="Calibri" panose="020F0502020204030204" pitchFamily="34" charset="0"/>
                  <a:cs typeface="Times New Roman" panose="02020603050405020304" pitchFamily="18" charset="0"/>
                </a:rPr>
                <a:t>To perform sentiment analysis on text messages to predict cyberbullying in game chatrooms</a:t>
              </a:r>
            </a:p>
            <a:p>
              <a:pPr marL="457200" indent="-457200" algn="just">
                <a:lnSpc>
                  <a:spcPct val="150000"/>
                </a:lnSpc>
                <a:spcAft>
                  <a:spcPts val="800"/>
                </a:spcAft>
                <a:buFont typeface="Arial" panose="020B0604020202020204" pitchFamily="34" charset="0"/>
                <a:buChar char="•"/>
              </a:pPr>
              <a:r>
                <a:rPr lang="en-ZW" sz="2800" dirty="0">
                  <a:effectLst/>
                  <a:ea typeface="Calibri" panose="020F0502020204030204" pitchFamily="34" charset="0"/>
                  <a:cs typeface="Times New Roman" panose="02020603050405020304" pitchFamily="18" charset="0"/>
                </a:rPr>
                <a:t>To  block and delete cyberbullying text</a:t>
              </a:r>
              <a:endParaRPr lang="en-ZW" sz="2400" dirty="0">
                <a:effectLst/>
                <a:ea typeface="Calibri" panose="020F0502020204030204" pitchFamily="34" charset="0"/>
                <a:cs typeface="Times New Roman" panose="02020603050405020304" pitchFamily="18" charset="0"/>
              </a:endParaRPr>
            </a:p>
            <a:p>
              <a:pPr marL="457200" lvl="0" indent="-457200" algn="just">
                <a:lnSpc>
                  <a:spcPct val="150000"/>
                </a:lnSpc>
                <a:spcAft>
                  <a:spcPts val="800"/>
                </a:spcAft>
                <a:buFont typeface="Arial" panose="020B0604020202020204" pitchFamily="34" charset="0"/>
                <a:buChar char="•"/>
              </a:pPr>
              <a:endParaRPr lang="en-ZW" sz="2800" dirty="0">
                <a:ea typeface="Calibri" panose="020F0502020204030204" pitchFamily="34" charset="0"/>
                <a:cs typeface="Times New Roman" panose="02020603050405020304" pitchFamily="18" charset="0"/>
              </a:endParaRPr>
            </a:p>
            <a:p>
              <a:pPr lvl="0" algn="just">
                <a:lnSpc>
                  <a:spcPct val="150000"/>
                </a:lnSpc>
                <a:spcAft>
                  <a:spcPts val="800"/>
                </a:spcAft>
              </a:pPr>
              <a:endParaRPr lang="en-ZW" sz="2800" dirty="0">
                <a:effectLst/>
                <a:ea typeface="Calibri" panose="020F0502020204030204" pitchFamily="34" charset="0"/>
                <a:cs typeface="Times New Roman" panose="02020603050405020304" pitchFamily="18" charset="0"/>
              </a:endParaRPr>
            </a:p>
            <a:p>
              <a:pPr lvl="0" algn="just">
                <a:lnSpc>
                  <a:spcPct val="150000"/>
                </a:lnSpc>
                <a:spcAft>
                  <a:spcPts val="800"/>
                </a:spcAft>
              </a:pPr>
              <a:endParaRPr lang="en-ZW" sz="2800" dirty="0">
                <a:effectLst/>
                <a:ea typeface="Calibri" panose="020F0502020204030204" pitchFamily="34" charset="0"/>
                <a:cs typeface="Times New Roman" panose="02020603050405020304" pitchFamily="18" charset="0"/>
              </a:endParaRPr>
            </a:p>
            <a:p>
              <a:pPr lvl="0" algn="just">
                <a:lnSpc>
                  <a:spcPct val="150000"/>
                </a:lnSpc>
                <a:spcAft>
                  <a:spcPts val="800"/>
                </a:spcAft>
              </a:pPr>
              <a:endParaRPr lang="en-ZW" sz="2400" dirty="0">
                <a:effectLst/>
                <a:ea typeface="Calibri" panose="020F0502020204030204" pitchFamily="34" charset="0"/>
                <a:cs typeface="Times New Roman" panose="02020603050405020304" pitchFamily="18" charset="0"/>
              </a:endParaRPr>
            </a:p>
            <a:p>
              <a:pPr>
                <a:lnSpc>
                  <a:spcPts val="3499"/>
                </a:lnSpc>
              </a:pPr>
              <a:endParaRPr lang="en-US" sz="2499" dirty="0">
                <a:solidFill>
                  <a:srgbClr val="292929"/>
                </a:solidFill>
              </a:endParaRPr>
            </a:p>
            <a:p>
              <a:pPr>
                <a:lnSpc>
                  <a:spcPts val="3500"/>
                </a:lnSpc>
              </a:pPr>
              <a:endParaRPr lang="en-US" sz="2499" dirty="0">
                <a:solidFill>
                  <a:srgbClr val="292929"/>
                </a:solidFill>
              </a:endParaRPr>
            </a:p>
          </p:txBody>
        </p:sp>
      </p:grpSp>
      <p:grpSp>
        <p:nvGrpSpPr>
          <p:cNvPr id="9" name="Group 9"/>
          <p:cNvGrpSpPr/>
          <p:nvPr/>
        </p:nvGrpSpPr>
        <p:grpSpPr>
          <a:xfrm>
            <a:off x="10896600" y="5922269"/>
            <a:ext cx="7253067" cy="4440562"/>
            <a:chOff x="0" y="-9525"/>
            <a:chExt cx="9670755" cy="5920748"/>
          </a:xfrm>
        </p:grpSpPr>
        <p:sp>
          <p:nvSpPr>
            <p:cNvPr id="10" name="TextBox 10"/>
            <p:cNvSpPr txBox="1"/>
            <p:nvPr/>
          </p:nvSpPr>
          <p:spPr>
            <a:xfrm>
              <a:off x="0" y="-9525"/>
              <a:ext cx="9670755" cy="1228725"/>
            </a:xfrm>
            <a:prstGeom prst="rect">
              <a:avLst/>
            </a:prstGeom>
          </p:spPr>
          <p:txBody>
            <a:bodyPr lIns="0" tIns="0" rIns="0" bIns="0" rtlCol="0" anchor="t">
              <a:spAutoFit/>
            </a:bodyPr>
            <a:lstStyle/>
            <a:p>
              <a:pPr algn="ctr">
                <a:lnSpc>
                  <a:spcPts val="3600"/>
                </a:lnSpc>
              </a:pPr>
              <a:r>
                <a:rPr lang="en-US" sz="3000" b="1" spc="60" dirty="0">
                  <a:solidFill>
                    <a:srgbClr val="292929"/>
                  </a:solidFill>
                </a:rPr>
                <a:t>OBJECTIVES</a:t>
              </a:r>
            </a:p>
            <a:p>
              <a:pPr>
                <a:lnSpc>
                  <a:spcPts val="3600"/>
                </a:lnSpc>
              </a:pPr>
              <a:endParaRPr lang="en-US" sz="3000" spc="60" dirty="0">
                <a:solidFill>
                  <a:srgbClr val="292929"/>
                </a:solidFill>
              </a:endParaRPr>
            </a:p>
          </p:txBody>
        </p:sp>
        <p:sp>
          <p:nvSpPr>
            <p:cNvPr id="11" name="TextBox 11"/>
            <p:cNvSpPr txBox="1"/>
            <p:nvPr/>
          </p:nvSpPr>
          <p:spPr>
            <a:xfrm>
              <a:off x="0" y="1628940"/>
              <a:ext cx="9670755" cy="4282283"/>
            </a:xfrm>
            <a:prstGeom prst="rect">
              <a:avLst/>
            </a:prstGeom>
          </p:spPr>
          <p:txBody>
            <a:bodyPr lIns="0" tIns="0" rIns="0" bIns="0" rtlCol="0" anchor="t">
              <a:spAutoFit/>
            </a:bodyPr>
            <a:lstStyle/>
            <a:p>
              <a:pPr marL="457200" indent="-457200" algn="just">
                <a:lnSpc>
                  <a:spcPct val="150000"/>
                </a:lnSpc>
                <a:spcAft>
                  <a:spcPts val="800"/>
                </a:spcAft>
                <a:buFont typeface="Arial" panose="020B0604020202020204" pitchFamily="34" charset="0"/>
                <a:buChar char="•"/>
              </a:pPr>
              <a:r>
                <a:rPr lang="en-ZW" sz="2800" dirty="0">
                  <a:ea typeface="Calibri" panose="020F0502020204030204" pitchFamily="34" charset="0"/>
                  <a:cs typeface="Times New Roman" panose="02020603050405020304" pitchFamily="18" charset="0"/>
                </a:rPr>
                <a:t>To </a:t>
              </a:r>
              <a:r>
                <a:rPr lang="en-ZW" sz="2800" dirty="0">
                  <a:effectLst/>
                  <a:ea typeface="Calibri" panose="020F0502020204030204" pitchFamily="34" charset="0"/>
                  <a:cs typeface="Times New Roman" panose="02020603050405020304" pitchFamily="18" charset="0"/>
                </a:rPr>
                <a:t>notify the </a:t>
              </a:r>
              <a:r>
                <a:rPr lang="en-ZW" sz="2800" dirty="0" err="1">
                  <a:effectLst/>
                  <a:ea typeface="Calibri" panose="020F0502020204030204" pitchFamily="34" charset="0"/>
                  <a:cs typeface="Times New Roman" panose="02020603050405020304" pitchFamily="18" charset="0"/>
                </a:rPr>
                <a:t>Admnistrator</a:t>
              </a:r>
              <a:r>
                <a:rPr lang="en-ZW" sz="2800">
                  <a:effectLst/>
                  <a:ea typeface="Calibri" panose="020F0502020204030204" pitchFamily="34" charset="0"/>
                  <a:cs typeface="Times New Roman" panose="02020603050405020304" pitchFamily="18" charset="0"/>
                </a:rPr>
                <a:t> when cyberbullying text is detected. </a:t>
              </a:r>
            </a:p>
            <a:p>
              <a:pPr marL="457200" lvl="0" indent="-457200" algn="just">
                <a:lnSpc>
                  <a:spcPct val="150000"/>
                </a:lnSpc>
                <a:spcAft>
                  <a:spcPts val="800"/>
                </a:spcAft>
                <a:buFont typeface="Arial" panose="020B0604020202020204" pitchFamily="34" charset="0"/>
                <a:buChar char="•"/>
              </a:pPr>
              <a:r>
                <a:rPr lang="en-ZW" sz="2800" dirty="0">
                  <a:effectLst/>
                  <a:ea typeface="Calibri" panose="020F0502020204030204" pitchFamily="34" charset="0"/>
                  <a:cs typeface="Times New Roman" panose="02020603050405020304" pitchFamily="18" charset="0"/>
                </a:rPr>
                <a:t>To </a:t>
              </a:r>
              <a:r>
                <a:rPr lang="en-ZW" sz="2800" dirty="0">
                  <a:ea typeface="Calibri" panose="020F0502020204030204" pitchFamily="34" charset="0"/>
                  <a:cs typeface="Times New Roman" panose="02020603050405020304" pitchFamily="18" charset="0"/>
                </a:rPr>
                <a:t>generate a</a:t>
              </a:r>
              <a:r>
                <a:rPr lang="en-ZW" sz="2800" dirty="0">
                  <a:effectLst/>
                  <a:ea typeface="Calibri" panose="020F0502020204030204" pitchFamily="34" charset="0"/>
                  <a:cs typeface="Times New Roman" panose="02020603050405020304" pitchFamily="18" charset="0"/>
                </a:rPr>
                <a:t> report of the </a:t>
              </a:r>
              <a:r>
                <a:rPr lang="en-ZW" sz="2800" dirty="0" err="1">
                  <a:effectLst/>
                  <a:ea typeface="Calibri" panose="020F0502020204030204" pitchFamily="34" charset="0"/>
                  <a:cs typeface="Times New Roman" panose="02020603050405020304" pitchFamily="18" charset="0"/>
                </a:rPr>
                <a:t>activites</a:t>
              </a:r>
              <a:r>
                <a:rPr lang="en-ZW" sz="2800" dirty="0">
                  <a:effectLst/>
                  <a:ea typeface="Calibri" panose="020F0502020204030204" pitchFamily="34" charset="0"/>
                  <a:cs typeface="Times New Roman" panose="02020603050405020304" pitchFamily="18" charset="0"/>
                </a:rPr>
                <a:t> in the system</a:t>
              </a:r>
              <a:endParaRPr lang="en-ZW" sz="2400" dirty="0">
                <a:effectLst/>
                <a:ea typeface="Calibri" panose="020F0502020204030204" pitchFamily="34" charset="0"/>
                <a:cs typeface="Times New Roman" panose="02020603050405020304" pitchFamily="18" charset="0"/>
              </a:endParaRPr>
            </a:p>
            <a:p>
              <a:pPr>
                <a:lnSpc>
                  <a:spcPts val="3500"/>
                </a:lnSpc>
              </a:pPr>
              <a:endParaRPr lang="en-US" sz="2499" dirty="0">
                <a:solidFill>
                  <a:srgbClr val="292929"/>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0" y="0"/>
            <a:ext cx="4994615" cy="10287000"/>
          </a:xfrm>
          <a:custGeom>
            <a:avLst/>
            <a:gdLst/>
            <a:ahLst/>
            <a:cxnLst/>
            <a:rect l="l" t="t" r="r" b="b"/>
            <a:pathLst>
              <a:path w="4994615" h="10287000">
                <a:moveTo>
                  <a:pt x="0" y="0"/>
                </a:moveTo>
                <a:lnTo>
                  <a:pt x="4994615" y="0"/>
                </a:lnTo>
                <a:lnTo>
                  <a:pt x="4994615" y="10287000"/>
                </a:lnTo>
                <a:lnTo>
                  <a:pt x="0" y="10287000"/>
                </a:lnTo>
                <a:lnTo>
                  <a:pt x="0" y="0"/>
                </a:lnTo>
                <a:close/>
              </a:path>
            </a:pathLst>
          </a:custGeom>
          <a:blipFill>
            <a:blip r:embed="rId2"/>
            <a:stretch>
              <a:fillRect l="-18653" r="-18653"/>
            </a:stretch>
          </a:blipFill>
        </p:spPr>
        <p:txBody>
          <a:bodyPr/>
          <a:lstStyle/>
          <a:p>
            <a:endParaRPr lang="en-ZW"/>
          </a:p>
        </p:txBody>
      </p:sp>
      <p:sp>
        <p:nvSpPr>
          <p:cNvPr id="3" name="Freeform 3"/>
          <p:cNvSpPr/>
          <p:nvPr/>
        </p:nvSpPr>
        <p:spPr>
          <a:xfrm>
            <a:off x="3207098" y="1296345"/>
            <a:ext cx="3378047" cy="3196477"/>
          </a:xfrm>
          <a:custGeom>
            <a:avLst/>
            <a:gdLst/>
            <a:ahLst/>
            <a:cxnLst/>
            <a:rect l="l" t="t" r="r" b="b"/>
            <a:pathLst>
              <a:path w="3378047" h="3196477">
                <a:moveTo>
                  <a:pt x="0" y="0"/>
                </a:moveTo>
                <a:lnTo>
                  <a:pt x="3378047" y="0"/>
                </a:lnTo>
                <a:lnTo>
                  <a:pt x="3378047" y="3196477"/>
                </a:lnTo>
                <a:lnTo>
                  <a:pt x="0" y="3196477"/>
                </a:lnTo>
                <a:lnTo>
                  <a:pt x="0" y="0"/>
                </a:lnTo>
                <a:close/>
              </a:path>
            </a:pathLst>
          </a:custGeom>
          <a:blipFill>
            <a:blip r:embed="rId3"/>
            <a:stretch>
              <a:fillRect/>
            </a:stretch>
          </a:blipFill>
        </p:spPr>
        <p:txBody>
          <a:bodyPr/>
          <a:lstStyle/>
          <a:p>
            <a:endParaRPr lang="en-ZW"/>
          </a:p>
        </p:txBody>
      </p:sp>
      <p:sp>
        <p:nvSpPr>
          <p:cNvPr id="4" name="TextBox 4"/>
          <p:cNvSpPr txBox="1"/>
          <p:nvPr/>
        </p:nvSpPr>
        <p:spPr>
          <a:xfrm>
            <a:off x="6948650" y="3220391"/>
            <a:ext cx="9385316" cy="1384995"/>
          </a:xfrm>
          <a:prstGeom prst="rect">
            <a:avLst/>
          </a:prstGeom>
        </p:spPr>
        <p:txBody>
          <a:bodyPr lIns="0" tIns="0" rIns="0" bIns="0" rtlCol="0" anchor="t">
            <a:spAutoFit/>
          </a:bodyPr>
          <a:lstStyle/>
          <a:p>
            <a:pPr>
              <a:lnSpc>
                <a:spcPts val="10800"/>
              </a:lnSpc>
            </a:pPr>
            <a:r>
              <a:rPr lang="en-US" sz="9000" dirty="0">
                <a:solidFill>
                  <a:srgbClr val="FFFDF6"/>
                </a:solidFill>
                <a:latin typeface="DM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2673</TotalTime>
  <Words>244</Words>
  <Application>Microsoft Office PowerPoint</Application>
  <PresentationFormat>Custom</PresentationFormat>
  <Paragraphs>23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Calibri</vt:lpstr>
      <vt:lpstr>Arial</vt:lpstr>
      <vt:lpstr>DM Sans Bold</vt:lpstr>
      <vt:lpstr>DM Sans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3D Elements Financial Technology (Fintech) Technology Presentation</dc:title>
  <dc:creator>EUGWAZE</dc:creator>
  <cp:lastModifiedBy>EUGWAZE</cp:lastModifiedBy>
  <cp:revision>40</cp:revision>
  <dcterms:created xsi:type="dcterms:W3CDTF">2006-08-16T00:00:00Z</dcterms:created>
  <dcterms:modified xsi:type="dcterms:W3CDTF">2024-05-02T07:59:27Z</dcterms:modified>
  <dc:identifier>DAFs26WxjhM</dc:identifier>
</cp:coreProperties>
</file>